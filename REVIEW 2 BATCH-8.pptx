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75" r:id="rId5"/>
    <p:sldId id="272" r:id="rId6"/>
    <p:sldId id="276" r:id="rId7"/>
    <p:sldId id="273" r:id="rId8"/>
    <p:sldId id="258" r:id="rId9"/>
    <p:sldId id="261" r:id="rId10"/>
    <p:sldId id="265" r:id="rId11"/>
    <p:sldId id="260" r:id="rId12"/>
    <p:sldId id="274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5"/>
            <p14:sldId id="272"/>
            <p14:sldId id="276"/>
            <p14:sldId id="273"/>
            <p14:sldId id="258"/>
            <p14:sldId id="261"/>
            <p14:sldId id="265"/>
            <p14:sldId id="260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CB5F0-374F-448D-B2F9-AF839DA9BA8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1EA4E-6A2E-4FF1-9C54-2A480DBB8F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2834" y="121493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SOA PROGRAMMING AND MICROSERVICES (24SDCS03)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 err="1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MediAssist</a:t>
            </a:r>
            <a:r>
              <a:rPr lang="en-IN" sz="3200" b="1" dirty="0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 - AI Powered Hospital Appointment System</a:t>
            </a:r>
            <a:endParaRPr lang="en-US" sz="3000" b="1" dirty="0">
              <a:solidFill>
                <a:srgbClr val="FF0000"/>
              </a:solidFill>
              <a:latin typeface="MS Mincho" panose="02020609040205080304" pitchFamily="49" charset="-128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9" y="3729916"/>
            <a:ext cx="7324531" cy="157360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Anjali Kasarla - 2420030170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Vinusha Muppala - 2420030212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Lakshmi Abhista - 2420030743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22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  <a:endParaRPr lang="en-IN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Neelima Gogineni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619836"/>
            <a:ext cx="51305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&amp; Technology Stack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9851E-2CAB-C37E-7E1A-C56B43FEE83A}"/>
              </a:ext>
            </a:extLst>
          </p:cNvPr>
          <p:cNvSpPr txBox="1"/>
          <p:nvPr/>
        </p:nvSpPr>
        <p:spPr>
          <a:xfrm>
            <a:off x="1117600" y="1166843"/>
            <a:ext cx="9296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Problem Statement</a:t>
            </a:r>
          </a:p>
          <a:p>
            <a:pPr>
              <a:buNone/>
            </a:pPr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Traditional hospital management systems are often centralized, making them difficult to scale, maintain, and integrate with different hospital departments.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Our project aims to develop a </a:t>
            </a:r>
            <a:r>
              <a:rPr lang="en-IN" b="1" dirty="0"/>
              <a:t>secure and scalable Hospital Management System</a:t>
            </a:r>
            <a:r>
              <a:rPr lang="en-IN" dirty="0"/>
              <a:t> using </a:t>
            </a:r>
            <a:r>
              <a:rPr lang="en-IN" b="1" dirty="0"/>
              <a:t>Service-Oriented Architecture (SOA) and Microservices Architecture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system manages: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Patient registration and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Doctor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Appointment booking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Billing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Secure user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Notifications for important events </a:t>
            </a:r>
          </a:p>
          <a:p>
            <a:pPr>
              <a:buNone/>
            </a:pPr>
            <a:r>
              <a:rPr lang="en-IN" dirty="0"/>
              <a:t>The architecture enables independent services, better scalability, and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5815-36B9-B77A-F34A-C4F45DB0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4A19CB-B811-7F57-E2CB-F5C7E18A5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307340"/>
              </p:ext>
            </p:extLst>
          </p:nvPr>
        </p:nvGraphicFramePr>
        <p:xfrm>
          <a:off x="838200" y="1943894"/>
          <a:ext cx="1051560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710558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62700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0993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Main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84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56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Boot, MySQL, JPA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 patient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966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Boot, MySQL, JPA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 doctors and 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Appointment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Python, AI/ML, NLP,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Understand requests and assist appointment booking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42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Appointment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Boot, MySQL, JPA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 and manage appointments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14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Notification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Boot, Kafka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appointment reminders and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44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&amp; Service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Eureka, Spring Cloud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 discovery and request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456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Security, JWT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Authentication and authorization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96833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453869-4DA8-3145-0DEC-086D7EB02AC2}"/>
              </a:ext>
            </a:extLst>
          </p:cNvPr>
          <p:cNvSpPr/>
          <p:nvPr/>
        </p:nvSpPr>
        <p:spPr>
          <a:xfrm>
            <a:off x="2775096" y="202350"/>
            <a:ext cx="6411433" cy="75474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Technical Soundness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734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131066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131066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B07390-213A-DDDF-D7C6-68E3AF53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86862"/>
            <a:ext cx="11493062" cy="60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4AAD-C87B-1515-0CFE-F739E3A0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47188A-2F06-138C-8BFD-5F4732374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570530"/>
              </p:ext>
            </p:extLst>
          </p:nvPr>
        </p:nvGraphicFramePr>
        <p:xfrm>
          <a:off x="1190080" y="1803794"/>
          <a:ext cx="9811840" cy="439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05920">
                  <a:extLst>
                    <a:ext uri="{9D8B030D-6E8A-4147-A177-3AD203B41FA5}">
                      <a16:colId xmlns:a16="http://schemas.microsoft.com/office/drawing/2014/main" val="3646757978"/>
                    </a:ext>
                  </a:extLst>
                </a:gridCol>
                <a:gridCol w="4905920">
                  <a:extLst>
                    <a:ext uri="{9D8B030D-6E8A-4147-A177-3AD203B41FA5}">
                      <a16:colId xmlns:a16="http://schemas.microsoft.com/office/drawing/2014/main" val="3690487478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rgbClr val="FF0000"/>
                          </a:solidFill>
                        </a:rPr>
                        <a:t>Stage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rgbClr val="FF0000"/>
                          </a:solidFill>
                        </a:rPr>
                        <a:t>Activities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23784330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1. Requirements Analysis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Identify patient, doctor and admin requirements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99220282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2. System Design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Design SOA/Microservices architecture and define services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2667731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3. AI Agent Development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Develop AI Appointment Agent using Python, NLP and LLM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88426740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4. Microservices Development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Develop Patient, Doctor, Appointment, Billing and Notification services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62422914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5. SOA Integration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Integrate services using Eureka, API Gateway and Kafka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41012348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6. Security Implementation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Implement Spring Security and JWT authentication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72424721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7. Testing &amp; Validation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Perform unit, integration and API testing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3064297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8. Deployment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Use Docker and GitHub Actions for deployment and CI/CD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9386490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A0AA48-F3C8-E4AE-801D-1CEE67E55AC8}"/>
              </a:ext>
            </a:extLst>
          </p:cNvPr>
          <p:cNvSpPr/>
          <p:nvPr/>
        </p:nvSpPr>
        <p:spPr>
          <a:xfrm>
            <a:off x="3359888" y="510670"/>
            <a:ext cx="5582093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Methodology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131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0CF11-FA29-6E5A-204B-ECD7A9874CD9}"/>
              </a:ext>
            </a:extLst>
          </p:cNvPr>
          <p:cNvSpPr txBox="1"/>
          <p:nvPr/>
        </p:nvSpPr>
        <p:spPr>
          <a:xfrm>
            <a:off x="873760" y="1117600"/>
            <a:ext cx="106578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Objectives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endParaRPr lang="en-IN" sz="2400" b="1" dirty="0"/>
          </a:p>
          <a:p>
            <a:r>
              <a:rPr lang="en-IN" sz="2000" dirty="0"/>
              <a:t>The main objectives of the proposed </a:t>
            </a:r>
            <a:r>
              <a:rPr lang="en-IN" sz="2000" b="1" dirty="0" err="1"/>
              <a:t>MediAssist</a:t>
            </a:r>
            <a:r>
              <a:rPr lang="en-IN" sz="2000" dirty="0"/>
              <a:t> system are:</a:t>
            </a:r>
          </a:p>
          <a:p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develop a </a:t>
            </a:r>
            <a:r>
              <a:rPr lang="en-IN" sz="2000" b="1" dirty="0"/>
              <a:t>Hospital Management System</a:t>
            </a:r>
            <a:r>
              <a:rPr lang="en-IN" sz="2000" dirty="0"/>
              <a:t> using </a:t>
            </a:r>
            <a:r>
              <a:rPr lang="en-IN" sz="2000" b="1" dirty="0"/>
              <a:t>SOA and Microservices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independent services for </a:t>
            </a:r>
            <a:r>
              <a:rPr lang="en-IN" sz="2000" b="1" dirty="0"/>
              <a:t>Patients, Doctors, Appointments, and Billing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implement </a:t>
            </a:r>
            <a:r>
              <a:rPr lang="en-IN" sz="2000" b="1" dirty="0"/>
              <a:t>RESTful APIs</a:t>
            </a:r>
            <a:r>
              <a:rPr lang="en-IN" sz="2000" dirty="0"/>
              <a:t> for communication between services.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provide centralized request routing using an </a:t>
            </a:r>
            <a:r>
              <a:rPr lang="en-IN" sz="2000" b="1" dirty="0"/>
              <a:t>API Gateway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implement </a:t>
            </a:r>
            <a:r>
              <a:rPr lang="en-IN" sz="2000" b="1" dirty="0"/>
              <a:t>Service Discovery using Eureka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secure the application using </a:t>
            </a:r>
            <a:r>
              <a:rPr lang="en-IN" sz="2000" b="1" dirty="0"/>
              <a:t>Spring Security and JWT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use </a:t>
            </a:r>
            <a:r>
              <a:rPr lang="en-IN" sz="2000" b="1" dirty="0"/>
              <a:t>Apache Kafka</a:t>
            </a:r>
            <a:r>
              <a:rPr lang="en-IN" sz="2000" dirty="0"/>
              <a:t> for event-driven notifications.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manage data using </a:t>
            </a:r>
            <a:r>
              <a:rPr lang="en-IN" sz="2000" b="1" dirty="0"/>
              <a:t>Spring Data JPA and MySQL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perform </a:t>
            </a:r>
            <a:r>
              <a:rPr lang="en-IN" sz="2000" b="1" dirty="0"/>
              <a:t>unit and integration testing</a:t>
            </a:r>
            <a:r>
              <a:rPr lang="en-IN" sz="20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automate </a:t>
            </a:r>
            <a:r>
              <a:rPr lang="en-IN" sz="2000" b="1" dirty="0"/>
              <a:t>build and testing using CI/CD</a:t>
            </a:r>
            <a:r>
              <a:rPr lang="en-IN" sz="2000" dirty="0"/>
              <a:t>.</a:t>
            </a:r>
          </a:p>
          <a:p>
            <a:pPr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D819F-F696-B0E1-0CBF-25CC46218420}"/>
              </a:ext>
            </a:extLst>
          </p:cNvPr>
          <p:cNvSpPr txBox="1"/>
          <p:nvPr/>
        </p:nvSpPr>
        <p:spPr>
          <a:xfrm>
            <a:off x="1056640" y="1499999"/>
            <a:ext cx="96316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SOA and Microservices:</a:t>
            </a:r>
            <a:r>
              <a:rPr lang="en-IN" sz="2400" dirty="0"/>
              <a:t> Improve scalability, flexibility, and maintainability in healthcare systems. </a:t>
            </a:r>
          </a:p>
          <a:p>
            <a:pPr lvl="0" algn="just"/>
            <a:endParaRPr lang="en-IN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Healthcare Interoperability:</a:t>
            </a:r>
            <a:r>
              <a:rPr lang="en-IN" sz="2400" dirty="0"/>
              <a:t> Standards like </a:t>
            </a:r>
            <a:r>
              <a:rPr lang="en-IN" sz="2400" b="1" dirty="0"/>
              <a:t>HL7 FHIR</a:t>
            </a:r>
            <a:r>
              <a:rPr lang="en-IN" sz="2400" dirty="0"/>
              <a:t> enable secure data exchange between departments. </a:t>
            </a:r>
          </a:p>
          <a:p>
            <a:pPr lvl="0" algn="just"/>
            <a:endParaRPr lang="en-IN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Hospital Management Systems:</a:t>
            </a:r>
            <a:r>
              <a:rPr lang="en-IN" sz="2400" dirty="0"/>
              <a:t> Existing studies focus on patient management, appointments, billing, and authentication.</a:t>
            </a:r>
          </a:p>
          <a:p>
            <a:pPr lvl="0" algn="just"/>
            <a:r>
              <a:rPr lang="en-IN" sz="2400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Research Gap:</a:t>
            </a:r>
            <a:r>
              <a:rPr lang="en-IN" sz="2400" dirty="0"/>
              <a:t> Need for a </a:t>
            </a:r>
            <a:r>
              <a:rPr lang="en-IN" sz="2400" b="1" dirty="0"/>
              <a:t>secure, scalable, and easily integrated</a:t>
            </a:r>
            <a:r>
              <a:rPr lang="en-IN" sz="2400" dirty="0"/>
              <a:t> hospital management system using microservices.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pic>
        <p:nvPicPr>
          <p:cNvPr id="10" name="Image 0" descr="/home/claude/deck/icons/alertcircle_white.png">
            <a:extLst>
              <a:ext uri="{FF2B5EF4-FFF2-40B4-BE49-F238E27FC236}">
                <a16:creationId xmlns:a16="http://schemas.microsoft.com/office/drawing/2014/main" id="{E6D05456-4551-EE25-3805-C3E85872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96380"/>
            <a:ext cx="329184" cy="329184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8A5EBFFC-2860-6D11-B942-2D5419354133}"/>
              </a:ext>
            </a:extLst>
          </p:cNvPr>
          <p:cNvSpPr/>
          <p:nvPr/>
        </p:nvSpPr>
        <p:spPr>
          <a:xfrm>
            <a:off x="731520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Emotion-Aware Evaluation</a:t>
            </a:r>
            <a:endParaRPr lang="en-US" sz="1500" dirty="0"/>
          </a:p>
        </p:txBody>
      </p:sp>
      <p:pic>
        <p:nvPicPr>
          <p:cNvPr id="30" name="Image 2" descr="/home/claude/deck/icons/users_white.png">
            <a:extLst>
              <a:ext uri="{FF2B5EF4-FFF2-40B4-BE49-F238E27FC236}">
                <a16:creationId xmlns:a16="http://schemas.microsoft.com/office/drawing/2014/main" id="{3D2CB16D-E55B-57D5-9EDC-A0080EF8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48" y="4334256"/>
            <a:ext cx="275844" cy="446532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929A3D37-F997-EA3D-533D-14C43EDB8B3D}"/>
              </a:ext>
            </a:extLst>
          </p:cNvPr>
          <p:cNvSpPr/>
          <p:nvPr/>
        </p:nvSpPr>
        <p:spPr>
          <a:xfrm>
            <a:off x="169164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Human Bias</a:t>
            </a:r>
            <a:endParaRPr lang="en-US" sz="15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D40B0869-40F7-F2E9-682F-DE866FEC4E4E}"/>
              </a:ext>
            </a:extLst>
          </p:cNvPr>
          <p:cNvSpPr/>
          <p:nvPr/>
        </p:nvSpPr>
        <p:spPr>
          <a:xfrm>
            <a:off x="7315200" y="4233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Multimodal Scoring</a:t>
            </a:r>
            <a:endParaRPr lang="en-US" sz="15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13DB1-D204-6407-3C34-794D159949EE}"/>
              </a:ext>
            </a:extLst>
          </p:cNvPr>
          <p:cNvSpPr txBox="1"/>
          <p:nvPr/>
        </p:nvSpPr>
        <p:spPr>
          <a:xfrm>
            <a:off x="2794000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AF712-99CC-2394-1B50-7DD928F1712F}"/>
              </a:ext>
            </a:extLst>
          </p:cNvPr>
          <p:cNvSpPr txBox="1"/>
          <p:nvPr/>
        </p:nvSpPr>
        <p:spPr>
          <a:xfrm>
            <a:off x="1087534" y="1740932"/>
            <a:ext cx="934637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Existing System Limitations</a:t>
            </a:r>
          </a:p>
          <a:p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Tightly coupled modules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independent scalability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Difficulty in deploying individual modules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Lack of flexible service discovery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Limited event-driven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Security challenges in distributed systems 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Our Approach</a:t>
            </a:r>
          </a:p>
          <a:p>
            <a:r>
              <a:rPr lang="en-IN" sz="2000" dirty="0" err="1"/>
              <a:t>MediAssist</a:t>
            </a:r>
            <a:r>
              <a:rPr lang="en-IN" sz="2000" dirty="0"/>
              <a:t> addresses these gaps using:</a:t>
            </a:r>
          </a:p>
          <a:p>
            <a:r>
              <a:rPr lang="en-IN" sz="2000" b="1" dirty="0"/>
              <a:t>Microservices + Eureka + API Gateway + JWT Security + Kafka</a:t>
            </a:r>
            <a:endParaRPr lang="en-IN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89E09-4653-452C-BF29-ED0F1E062B29}"/>
              </a:ext>
            </a:extLst>
          </p:cNvPr>
          <p:cNvSpPr txBox="1"/>
          <p:nvPr/>
        </p:nvSpPr>
        <p:spPr>
          <a:xfrm>
            <a:off x="1259839" y="1159361"/>
            <a:ext cx="91033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Innovation &amp; Creativity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000" dirty="0"/>
              <a:t>The proposed system combines modern technologies to improve hospital operations.</a:t>
            </a:r>
          </a:p>
          <a:p>
            <a:pPr>
              <a:buNone/>
            </a:pPr>
            <a:r>
              <a:rPr lang="en-IN" sz="2000" b="1" dirty="0"/>
              <a:t>Key Innovations: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Independent Microservices</a:t>
            </a:r>
            <a:r>
              <a:rPr lang="en-IN" sz="2000" dirty="0"/>
              <a:t> for different hospital departments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Service Discovery</a:t>
            </a:r>
            <a:r>
              <a:rPr lang="en-IN" sz="2000" dirty="0"/>
              <a:t> for dynamic communication between 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API Gateway</a:t>
            </a:r>
            <a:r>
              <a:rPr lang="en-IN" sz="2000" dirty="0"/>
              <a:t> as a single entry point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JWT-based Authentication</a:t>
            </a:r>
            <a:r>
              <a:rPr lang="en-IN" sz="2000" dirty="0"/>
              <a:t> for secure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Role-Based Authorization</a:t>
            </a:r>
            <a:r>
              <a:rPr lang="en-IN" sz="2000" dirty="0"/>
              <a:t> for Admin, Doctor, and Patient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Kafka-based Event Notifications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Database-per-Service</a:t>
            </a:r>
            <a:r>
              <a:rPr lang="en-IN" sz="2000" dirty="0"/>
              <a:t> approach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Scalable service instances</a:t>
            </a:r>
            <a:r>
              <a:rPr lang="en-IN" sz="2000" dirty="0"/>
              <a:t> for handling increased requests </a:t>
            </a:r>
          </a:p>
          <a:p>
            <a:pPr lvl="0"/>
            <a:endParaRPr lang="en-IN" sz="2000" dirty="0"/>
          </a:p>
          <a:p>
            <a:pPr>
              <a:buNone/>
            </a:pPr>
            <a:r>
              <a:rPr lang="en-IN" sz="2000" b="1" dirty="0"/>
              <a:t>Example Innovation:</a:t>
            </a:r>
          </a:p>
          <a:p>
            <a:pPr>
              <a:buNone/>
            </a:pPr>
            <a:r>
              <a:rPr lang="en-IN" sz="2000" b="1" dirty="0"/>
              <a:t>Appointment Booked → Kafka Event → Notification Service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This allows services to communicate asynchronously without tight coupling.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58571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224801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NOVELTY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D1F52-2792-7476-B91B-5C4AA7371CFF}"/>
              </a:ext>
            </a:extLst>
          </p:cNvPr>
          <p:cNvSpPr txBox="1"/>
          <p:nvPr/>
        </p:nvSpPr>
        <p:spPr>
          <a:xfrm>
            <a:off x="1036320" y="1305342"/>
            <a:ext cx="10058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Novelty of the Proposed System</a:t>
            </a:r>
          </a:p>
          <a:p>
            <a:pPr>
              <a:buNone/>
            </a:pPr>
            <a:endParaRPr lang="en-IN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novelty of the project lies in combining hospital management functionality with a modern distributed architecture.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Key novel aspects: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Migration from a traditional centralized system to </a:t>
            </a:r>
            <a:r>
              <a:rPr lang="en-IN" sz="2000" b="1" dirty="0"/>
              <a:t>Microservices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Separate services for major hospital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Dynamic service registration using </a:t>
            </a:r>
            <a:r>
              <a:rPr lang="en-IN" sz="2000" b="1" dirty="0"/>
              <a:t>Eureka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Centralized API access through </a:t>
            </a:r>
            <a:r>
              <a:rPr lang="en-IN" sz="2000" b="1" dirty="0"/>
              <a:t>Spring Cloud Gateway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Event-driven communication using </a:t>
            </a:r>
            <a:r>
              <a:rPr lang="en-IN" sz="2000" b="1" dirty="0"/>
              <a:t>Kafka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Secure APIs using </a:t>
            </a:r>
            <a:r>
              <a:rPr lang="en-IN" sz="2000" b="1" dirty="0"/>
              <a:t>JWT and Spring Security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Independent databases for better service autonomy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CI/CD automation for reliable development and deployment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020BC88-F061-B974-FFD5-329A7F4B9758}"/>
              </a:ext>
            </a:extLst>
          </p:cNvPr>
          <p:cNvSpPr/>
          <p:nvPr/>
        </p:nvSpPr>
        <p:spPr>
          <a:xfrm>
            <a:off x="640080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Resume</a:t>
            </a:r>
            <a:endParaRPr lang="en-US" sz="12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B7F297C-CAD8-79C9-7341-9D96E41FB682}"/>
              </a:ext>
            </a:extLst>
          </p:cNvPr>
          <p:cNvSpPr/>
          <p:nvPr/>
        </p:nvSpPr>
        <p:spPr>
          <a:xfrm>
            <a:off x="3136392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1E8D6B-433E-AB43-E74D-5B9949F1C06C}"/>
              </a:ext>
            </a:extLst>
          </p:cNvPr>
          <p:cNvSpPr/>
          <p:nvPr/>
        </p:nvSpPr>
        <p:spPr>
          <a:xfrm>
            <a:off x="1751076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A8EC0460-4497-ABA5-D3BA-FEBD5537F7CF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3B188F-D839-1E1E-6E07-2DD7F5DAB40D}"/>
              </a:ext>
            </a:extLst>
          </p:cNvPr>
          <p:cNvSpPr/>
          <p:nvPr/>
        </p:nvSpPr>
        <p:spPr>
          <a:xfrm>
            <a:off x="548640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E99ECD8-56CD-84F8-673C-F555B23B64CF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1A5027-1D08-CD9C-D22A-7BBEA5AF39D6}"/>
              </a:ext>
            </a:extLst>
          </p:cNvPr>
          <p:cNvSpPr/>
          <p:nvPr/>
        </p:nvSpPr>
        <p:spPr>
          <a:xfrm>
            <a:off x="3410712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308E3F03-BE51-503C-508A-02F6D5D10C4C}"/>
              </a:ext>
            </a:extLst>
          </p:cNvPr>
          <p:cNvSpPr/>
          <p:nvPr/>
        </p:nvSpPr>
        <p:spPr>
          <a:xfrm>
            <a:off x="3593592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→ Text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 Analysis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Processing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EB3122-5A09-C38B-E6C1-B4813426F340}"/>
              </a:ext>
            </a:extLst>
          </p:cNvPr>
          <p:cNvSpPr/>
          <p:nvPr/>
        </p:nvSpPr>
        <p:spPr>
          <a:xfrm>
            <a:off x="5998464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ECCE74D2-D918-10F3-490B-E761972FE03C}"/>
              </a:ext>
            </a:extLst>
          </p:cNvPr>
          <p:cNvSpPr/>
          <p:nvPr/>
        </p:nvSpPr>
        <p:spPr>
          <a:xfrm>
            <a:off x="4613148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1D6BC82F-3D75-529F-CD52-98B20F950EB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D01C4F2-D1BD-EDD6-0649-CDF64DEC333E}"/>
              </a:ext>
            </a:extLst>
          </p:cNvPr>
          <p:cNvSpPr/>
          <p:nvPr/>
        </p:nvSpPr>
        <p:spPr>
          <a:xfrm>
            <a:off x="3410712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66077B01-B281-E193-087A-0DFB480CDD33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AC3E82-B169-9CF2-0CD5-0B3AA1D0FC8F}"/>
              </a:ext>
            </a:extLst>
          </p:cNvPr>
          <p:cNvSpPr/>
          <p:nvPr/>
        </p:nvSpPr>
        <p:spPr>
          <a:xfrm>
            <a:off x="6272784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FFCA041E-05F9-874C-564E-9BD4722D26CE}"/>
              </a:ext>
            </a:extLst>
          </p:cNvPr>
          <p:cNvSpPr/>
          <p:nvPr/>
        </p:nvSpPr>
        <p:spPr>
          <a:xfrm>
            <a:off x="6364224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Coding</a:t>
            </a:r>
            <a:endParaRPr lang="en-US" sz="12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A66C2913-6C76-79F8-A319-3278AA77F0F7}"/>
              </a:ext>
            </a:extLst>
          </p:cNvPr>
          <p:cNvSpPr/>
          <p:nvPr/>
        </p:nvSpPr>
        <p:spPr>
          <a:xfrm>
            <a:off x="6455664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Answer Scoring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Matching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Assessment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Test-Case Grading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4FAEA18-D884-97BA-EB17-DD49035B96CF}"/>
              </a:ext>
            </a:extLst>
          </p:cNvPr>
          <p:cNvSpPr/>
          <p:nvPr/>
        </p:nvSpPr>
        <p:spPr>
          <a:xfrm>
            <a:off x="8860536" y="2651760"/>
            <a:ext cx="292608" cy="18288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5A7079F6-0836-5C14-5C50-96E61EAB62C3}"/>
              </a:ext>
            </a:extLst>
          </p:cNvPr>
          <p:cNvSpPr/>
          <p:nvPr/>
        </p:nvSpPr>
        <p:spPr>
          <a:xfrm>
            <a:off x="7475220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26">
            <a:extLst>
              <a:ext uri="{FF2B5EF4-FFF2-40B4-BE49-F238E27FC236}">
                <a16:creationId xmlns:a16="http://schemas.microsoft.com/office/drawing/2014/main" id="{3FF2BE91-4F07-17E7-79CD-B2F41A3BE845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DBA99B4A-676F-ED8F-D2F1-08B07F98293A}"/>
              </a:ext>
            </a:extLst>
          </p:cNvPr>
          <p:cNvSpPr/>
          <p:nvPr/>
        </p:nvSpPr>
        <p:spPr>
          <a:xfrm>
            <a:off x="6272784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B4C4012B-8A1C-6C38-1FE3-FC2E44824C37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BDA7AE82-5AF8-254B-7F38-51A91AEFCBAB}"/>
              </a:ext>
            </a:extLst>
          </p:cNvPr>
          <p:cNvSpPr/>
          <p:nvPr/>
        </p:nvSpPr>
        <p:spPr>
          <a:xfrm>
            <a:off x="9134856" y="1417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36510374-E72B-961B-9913-5990466BE43D}"/>
              </a:ext>
            </a:extLst>
          </p:cNvPr>
          <p:cNvSpPr/>
          <p:nvPr/>
        </p:nvSpPr>
        <p:spPr>
          <a:xfrm>
            <a:off x="9134856" y="1920240"/>
            <a:ext cx="2606040" cy="155448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42AA8C29-12CE-9F11-3F37-7DD621EDDD16}"/>
              </a:ext>
            </a:extLst>
          </p:cNvPr>
          <p:cNvSpPr/>
          <p:nvPr/>
        </p:nvSpPr>
        <p:spPr>
          <a:xfrm>
            <a:off x="9226296" y="19842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Testing</a:t>
            </a:r>
            <a:endParaRPr lang="en-US" sz="12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95F9864-E1E5-70B6-F264-61785C9926D2}"/>
              </a:ext>
            </a:extLst>
          </p:cNvPr>
          <p:cNvSpPr/>
          <p:nvPr/>
        </p:nvSpPr>
        <p:spPr>
          <a:xfrm>
            <a:off x="9317736" y="2331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Integration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Report Gen.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Pipeline Testing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</a:t>
            </a:r>
            <a:endParaRPr lang="en-US" sz="10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657EBF73-E73A-973C-5A04-8FE774B925B0}"/>
              </a:ext>
            </a:extLst>
          </p:cNvPr>
          <p:cNvSpPr/>
          <p:nvPr/>
        </p:nvSpPr>
        <p:spPr>
          <a:xfrm>
            <a:off x="10337292" y="3502152"/>
            <a:ext cx="201168" cy="256032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9A83B90-7834-D2F6-0918-A49709A762B1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0E79F52F-4C68-AF9D-8BF8-BCD9390CB0F9}"/>
              </a:ext>
            </a:extLst>
          </p:cNvPr>
          <p:cNvSpPr/>
          <p:nvPr/>
        </p:nvSpPr>
        <p:spPr>
          <a:xfrm>
            <a:off x="9134856" y="37764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7234D324-19CC-BFB3-A9FE-BC7336FF7068}"/>
              </a:ext>
            </a:extLst>
          </p:cNvPr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B9E146CB-24E2-C565-FFD5-1A25598AEB99}"/>
              </a:ext>
            </a:extLst>
          </p:cNvPr>
          <p:cNvSpPr/>
          <p:nvPr/>
        </p:nvSpPr>
        <p:spPr>
          <a:xfrm>
            <a:off x="548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0A099BD6-CF4A-5A0B-F1C3-09ACE18098A3}"/>
              </a:ext>
            </a:extLst>
          </p:cNvPr>
          <p:cNvSpPr/>
          <p:nvPr/>
        </p:nvSpPr>
        <p:spPr>
          <a:xfrm>
            <a:off x="658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1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A1FA6A4C-CF5C-BF32-55AC-B9B0B38A9824}"/>
              </a:ext>
            </a:extLst>
          </p:cNvPr>
          <p:cNvSpPr/>
          <p:nvPr/>
        </p:nvSpPr>
        <p:spPr>
          <a:xfrm>
            <a:off x="658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Match Score</a:t>
            </a:r>
            <a:endParaRPr lang="en-US" sz="950" dirty="0"/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0DF6ABDB-6E8C-E6B4-EF6A-4AAB7767DFC8}"/>
              </a:ext>
            </a:extLst>
          </p:cNvPr>
          <p:cNvSpPr/>
          <p:nvPr/>
        </p:nvSpPr>
        <p:spPr>
          <a:xfrm>
            <a:off x="2834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73C13224-D672-5220-72D1-E820E15D546A}"/>
              </a:ext>
            </a:extLst>
          </p:cNvPr>
          <p:cNvSpPr/>
          <p:nvPr/>
        </p:nvSpPr>
        <p:spPr>
          <a:xfrm>
            <a:off x="2944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80725944-E0BF-F1D2-1C49-E2C37041233C}"/>
              </a:ext>
            </a:extLst>
          </p:cNvPr>
          <p:cNvSpPr/>
          <p:nvPr/>
        </p:nvSpPr>
        <p:spPr>
          <a:xfrm>
            <a:off x="2944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Accuracy</a:t>
            </a:r>
            <a:endParaRPr lang="en-US" sz="950" dirty="0"/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466B539A-D987-8DA6-EAE5-05D74C506B78}"/>
              </a:ext>
            </a:extLst>
          </p:cNvPr>
          <p:cNvSpPr/>
          <p:nvPr/>
        </p:nvSpPr>
        <p:spPr>
          <a:xfrm>
            <a:off x="5120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BE2D5707-B902-D362-2939-C86F028B7601}"/>
              </a:ext>
            </a:extLst>
          </p:cNvPr>
          <p:cNvSpPr/>
          <p:nvPr/>
        </p:nvSpPr>
        <p:spPr>
          <a:xfrm>
            <a:off x="5230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Evaluation</a:t>
            </a:r>
            <a:endParaRPr lang="en-US" sz="115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4A54B675-37DE-CEF2-D26B-22C01C82D41B}"/>
              </a:ext>
            </a:extLst>
          </p:cNvPr>
          <p:cNvSpPr/>
          <p:nvPr/>
        </p:nvSpPr>
        <p:spPr>
          <a:xfrm>
            <a:off x="5230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/ Relevance Score</a:t>
            </a:r>
            <a:endParaRPr lang="en-US" sz="95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A31D5B85-DA6D-A8D1-8F89-2F916A6DA13F}"/>
              </a:ext>
            </a:extLst>
          </p:cNvPr>
          <p:cNvSpPr/>
          <p:nvPr/>
        </p:nvSpPr>
        <p:spPr>
          <a:xfrm>
            <a:off x="7406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1BC0A1-D072-53B5-B35F-4FC996191A5B}"/>
              </a:ext>
            </a:extLst>
          </p:cNvPr>
          <p:cNvSpPr/>
          <p:nvPr/>
        </p:nvSpPr>
        <p:spPr>
          <a:xfrm>
            <a:off x="7516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150" dirty="0"/>
          </a:p>
        </p:txBody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99B7FE75-B7CB-4762-9389-F4E698017CB0}"/>
              </a:ext>
            </a:extLst>
          </p:cNvPr>
          <p:cNvSpPr/>
          <p:nvPr/>
        </p:nvSpPr>
        <p:spPr>
          <a:xfrm>
            <a:off x="7516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5E7C5E30-3F91-BCBC-6CC9-93BA6C4E7A1B}"/>
              </a:ext>
            </a:extLst>
          </p:cNvPr>
          <p:cNvSpPr/>
          <p:nvPr/>
        </p:nvSpPr>
        <p:spPr>
          <a:xfrm>
            <a:off x="9692640" y="48006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B5E888FC-88B4-2B6A-D3D3-2922AA384654}"/>
              </a:ext>
            </a:extLst>
          </p:cNvPr>
          <p:cNvSpPr/>
          <p:nvPr/>
        </p:nvSpPr>
        <p:spPr>
          <a:xfrm>
            <a:off x="9802368" y="4910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Assessment</a:t>
            </a:r>
            <a:endParaRPr lang="en-US" sz="1150" dirty="0"/>
          </a:p>
        </p:txBody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C34EF47A-9983-B6F2-3254-5F99F996667B}"/>
              </a:ext>
            </a:extLst>
          </p:cNvPr>
          <p:cNvSpPr/>
          <p:nvPr/>
        </p:nvSpPr>
        <p:spPr>
          <a:xfrm>
            <a:off x="9802368" y="5440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 / Accuracy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DCF21-A06E-C7AC-7189-87C878B0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-159328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74460" y="302403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3F6CA-A303-A357-B0A9-027569D3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3" y="906353"/>
            <a:ext cx="4542367" cy="5738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21902-4C3C-25EB-295D-2C3CF3148875}"/>
              </a:ext>
            </a:extLst>
          </p:cNvPr>
          <p:cNvSpPr txBox="1"/>
          <p:nvPr/>
        </p:nvSpPr>
        <p:spPr>
          <a:xfrm>
            <a:off x="5669280" y="1012954"/>
            <a:ext cx="6096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Registration &amp; Login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2.Resume &amp; Job Description Upload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3.Intelligent Resume Screening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4.Adaptive AI Interview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5.Speech-to-Text &amp; Multimodal Analysis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6.Technical Coding Assessment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7.Final Hiring Recommendation / Improvement Roadmap</a:t>
            </a: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2CBFB-3D08-A1E2-59E0-C4CE1FF6F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" y="-87593"/>
            <a:ext cx="12341161" cy="694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906</Words>
  <Application>Microsoft Office PowerPoint</Application>
  <PresentationFormat>Widescreen</PresentationFormat>
  <Paragraphs>202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MS Mincho</vt:lpstr>
      <vt:lpstr>Aptos</vt:lpstr>
      <vt:lpstr>Arial</vt:lpstr>
      <vt:lpstr>Calibri</vt:lpstr>
      <vt:lpstr>Cambria</vt:lpstr>
      <vt:lpstr>Times New Roman</vt:lpstr>
      <vt:lpstr>Office Theme</vt:lpstr>
      <vt:lpstr>       SOA PROGRAMMING AND MICROSERVICES (24SDCS03)  MediAssist - AI Powered Hospital Appointment System</vt:lpstr>
      <vt:lpstr>PowerPoint Presentation</vt:lpstr>
      <vt:lpstr>PowerPoint Presentation</vt:lpstr>
      <vt:lpstr>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Anjali Kasarla</cp:lastModifiedBy>
  <cp:revision>30</cp:revision>
  <dcterms:created xsi:type="dcterms:W3CDTF">2024-08-29T05:25:00Z</dcterms:created>
  <dcterms:modified xsi:type="dcterms:W3CDTF">2026-09-22T08:55:27Z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